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59" r:id="rId3"/>
    <p:sldId id="269" r:id="rId4"/>
    <p:sldId id="268" r:id="rId5"/>
    <p:sldId id="260" r:id="rId6"/>
    <p:sldId id="261" r:id="rId7"/>
    <p:sldId id="262" r:id="rId8"/>
    <p:sldId id="267" r:id="rId9"/>
    <p:sldId id="263" r:id="rId10"/>
    <p:sldId id="264" r:id="rId11"/>
  </p:sldIdLst>
  <p:sldSz cx="12192000" cy="6858000"/>
  <p:notesSz cx="6799263" cy="9929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2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r>
              <a:rPr lang="fr-FR" smtClean="0"/>
              <a:t>16/03/2022</a:t>
            </a:r>
            <a:endParaRPr lang="fr-FR"/>
          </a:p>
        </p:txBody>
      </p:sp>
      <p:sp>
        <p:nvSpPr>
          <p:cNvPr id="4" name="Espace réservé du pied de page 3"/>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7F973E60-5655-4211-9FE1-ABC6DCDDDB07}" type="slidenum">
              <a:rPr lang="fr-FR" smtClean="0"/>
              <a:t>‹N°›</a:t>
            </a:fld>
            <a:endParaRPr lang="fr-FR"/>
          </a:p>
        </p:txBody>
      </p:sp>
    </p:spTree>
    <p:extLst>
      <p:ext uri="{BB962C8B-B14F-4D97-AF65-F5344CB8AC3E}">
        <p14:creationId xmlns:p14="http://schemas.microsoft.com/office/powerpoint/2010/main" val="187131973"/>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r>
              <a:rPr lang="fr-FR" smtClean="0"/>
              <a:t>16/03/2022</a:t>
            </a:r>
            <a:endParaRPr lang="fr-FR"/>
          </a:p>
        </p:txBody>
      </p:sp>
      <p:sp>
        <p:nvSpPr>
          <p:cNvPr id="4" name="Espace réservé de l'image des diapositives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9FA38083-FE21-48E6-99EF-C895D566C80A}" type="slidenum">
              <a:rPr lang="fr-FR" smtClean="0"/>
              <a:t>‹N°›</a:t>
            </a:fld>
            <a:endParaRPr lang="fr-FR"/>
          </a:p>
        </p:txBody>
      </p:sp>
    </p:spTree>
    <p:extLst>
      <p:ext uri="{BB962C8B-B14F-4D97-AF65-F5344CB8AC3E}">
        <p14:creationId xmlns:p14="http://schemas.microsoft.com/office/powerpoint/2010/main" val="89817872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B1A9972B-AE33-45B9-AB86-6F418050263C}" type="datetime1">
              <a:rPr lang="fr-FR" smtClean="0"/>
              <a:t>14/01/2024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83356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240B15-107D-4D95-A4AF-5DC170B7E799}" type="datetime1">
              <a:rPr lang="fr-FR" smtClean="0"/>
              <a:t>14/01/2024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314248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C6307A37-45E4-47CD-97D3-A4AFE77C744B}" type="datetime1">
              <a:rPr lang="fr-FR" smtClean="0"/>
              <a:t>14/01/2024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253064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2D2E3B6-243A-4549-A078-0381740D179C}" type="datetime1">
              <a:rPr lang="fr-FR" smtClean="0"/>
              <a:t>14/01/2024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3992700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2099D088-0973-4493-850F-B02907AFFD9B}" type="datetime1">
              <a:rPr lang="fr-FR" smtClean="0"/>
              <a:t>14/01/2024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1575944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6108D3FC-A4ED-4C40-AB3C-6CCCC22EF6D9}" type="datetime1">
              <a:rPr lang="fr-FR" smtClean="0"/>
              <a:t>14/01/2024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2190673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A368EF-980B-47C1-8EB4-46EE7C78716A}" type="datetime1">
              <a:rPr lang="fr-FR" smtClean="0"/>
              <a:t>14/01/2024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383091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7D809F0-D9E8-4ABD-90AD-0E71D8B65B75}" type="datetime1">
              <a:rPr lang="fr-FR" smtClean="0"/>
              <a:t>14/01/2024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2244487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316198F8-2E8B-4198-8523-6ECD638C7615}" type="datetime1">
              <a:rPr lang="fr-FR" smtClean="0"/>
              <a:t>14/01/2024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2279604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63BF8C1-3F4A-464B-AC04-B0E895B27B0C}" type="datetime1">
              <a:rPr lang="fr-FR" smtClean="0"/>
              <a:t>14/01/2024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1091610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9E80FF4-1BE0-4FE1-BA6C-C39A5933A7A2}" type="datetime1">
              <a:rPr lang="fr-FR" smtClean="0"/>
              <a:t>14/01/2024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3D531E5-4024-4EE5-9966-ACD611FABC2C}" type="slidenum">
              <a:rPr lang="fr-FR" smtClean="0"/>
              <a:t>‹N°›</a:t>
            </a:fld>
            <a:endParaRPr lang="fr-FR"/>
          </a:p>
        </p:txBody>
      </p:sp>
    </p:spTree>
    <p:extLst>
      <p:ext uri="{BB962C8B-B14F-4D97-AF65-F5344CB8AC3E}">
        <p14:creationId xmlns:p14="http://schemas.microsoft.com/office/powerpoint/2010/main" val="944461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AA40C-EF72-491F-9E78-949CBC3EA9B8}" type="datetime1">
              <a:rPr lang="fr-FR" smtClean="0"/>
              <a:t>14/01/2024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D531E5-4024-4EE5-9966-ACD611FABC2C}" type="slidenum">
              <a:rPr lang="fr-FR" smtClean="0"/>
              <a:t>‹N°›</a:t>
            </a:fld>
            <a:endParaRPr lang="fr-FR"/>
          </a:p>
        </p:txBody>
      </p:sp>
    </p:spTree>
    <p:extLst>
      <p:ext uri="{BB962C8B-B14F-4D97-AF65-F5344CB8AC3E}">
        <p14:creationId xmlns:p14="http://schemas.microsoft.com/office/powerpoint/2010/main" val="18884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93178"/>
            <a:ext cx="9144000" cy="3047855"/>
          </a:xfrm>
        </p:spPr>
        <p:txBody>
          <a:bodyPr>
            <a:normAutofit/>
          </a:bodyPr>
          <a:lstStyle/>
          <a:p>
            <a:r>
              <a:rPr lang="fr-FR" dirty="0" smtClean="0"/>
              <a:t>L1 Math – Info </a:t>
            </a:r>
            <a:br>
              <a:rPr lang="fr-FR" dirty="0" smtClean="0"/>
            </a:br>
            <a:r>
              <a:rPr lang="fr-FR" dirty="0" smtClean="0"/>
              <a:t>TP1 – </a:t>
            </a:r>
            <a:r>
              <a:rPr lang="fr-FR" b="1" dirty="0" smtClean="0"/>
              <a:t>Statistique</a:t>
            </a:r>
            <a:r>
              <a:rPr lang="fr-FR" dirty="0" smtClean="0"/>
              <a:t> </a:t>
            </a:r>
            <a:endParaRPr lang="fr-FR" dirty="0"/>
          </a:p>
        </p:txBody>
      </p:sp>
      <p:sp>
        <p:nvSpPr>
          <p:cNvPr id="3" name="Sous-titre 2"/>
          <p:cNvSpPr>
            <a:spLocks noGrp="1"/>
          </p:cNvSpPr>
          <p:nvPr>
            <p:ph type="subTitle" idx="1"/>
          </p:nvPr>
        </p:nvSpPr>
        <p:spPr>
          <a:xfrm>
            <a:off x="1182415" y="4447165"/>
            <a:ext cx="9963806" cy="1655762"/>
          </a:xfrm>
        </p:spPr>
        <p:txBody>
          <a:bodyPr>
            <a:normAutofit/>
          </a:bodyPr>
          <a:lstStyle/>
          <a:p>
            <a:r>
              <a:rPr lang="fr-FR" sz="3200" dirty="0" smtClean="0"/>
              <a:t>Statistiques à une et deux variables avec R</a:t>
            </a:r>
          </a:p>
          <a:p>
            <a:endParaRPr lang="fr-FR" sz="2000" i="1" dirty="0" smtClean="0"/>
          </a:p>
          <a:p>
            <a:r>
              <a:rPr lang="fr-FR" sz="2000" i="1" dirty="0" smtClean="0"/>
              <a:t>Année </a:t>
            </a:r>
            <a:r>
              <a:rPr lang="fr-FR" sz="2000" i="1" dirty="0" smtClean="0"/>
              <a:t>2023-2024</a:t>
            </a:r>
            <a:endParaRPr lang="fr-FR" sz="2000" i="1" dirty="0"/>
          </a:p>
        </p:txBody>
      </p:sp>
      <p:sp>
        <p:nvSpPr>
          <p:cNvPr id="4" name="Espace réservé du numéro de diapositive 3"/>
          <p:cNvSpPr>
            <a:spLocks noGrp="1"/>
          </p:cNvSpPr>
          <p:nvPr>
            <p:ph type="sldNum" sz="quarter" idx="12"/>
          </p:nvPr>
        </p:nvSpPr>
        <p:spPr/>
        <p:txBody>
          <a:bodyPr/>
          <a:lstStyle/>
          <a:p>
            <a:fld id="{03D531E5-4024-4EE5-9966-ACD611FABC2C}" type="slidenum">
              <a:rPr lang="fr-FR" smtClean="0"/>
              <a:t>1</a:t>
            </a:fld>
            <a:endParaRPr lang="fr-FR"/>
          </a:p>
        </p:txBody>
      </p:sp>
    </p:spTree>
    <p:extLst>
      <p:ext uri="{BB962C8B-B14F-4D97-AF65-F5344CB8AC3E}">
        <p14:creationId xmlns:p14="http://schemas.microsoft.com/office/powerpoint/2010/main" val="640471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964406"/>
          </a:xfrm>
        </p:spPr>
        <p:txBody>
          <a:bodyPr>
            <a:normAutofit/>
          </a:bodyPr>
          <a:lstStyle/>
          <a:p>
            <a:r>
              <a:rPr lang="fr-FR" dirty="0" smtClean="0"/>
              <a:t>I. Création d’un fichier R </a:t>
            </a:r>
            <a:r>
              <a:rPr lang="fr-FR" dirty="0" err="1" smtClean="0"/>
              <a:t>Markdown</a:t>
            </a:r>
            <a:r>
              <a:rPr lang="fr-FR" dirty="0" smtClean="0"/>
              <a:t> </a:t>
            </a:r>
            <a:endParaRPr lang="fr-FR" dirty="0"/>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2</a:t>
            </a:fld>
            <a:endParaRPr lang="fr-FR"/>
          </a:p>
        </p:txBody>
      </p:sp>
      <p:sp>
        <p:nvSpPr>
          <p:cNvPr id="10" name="Espace réservé du contenu 2"/>
          <p:cNvSpPr txBox="1">
            <a:spLocks/>
          </p:cNvSpPr>
          <p:nvPr/>
        </p:nvSpPr>
        <p:spPr>
          <a:xfrm>
            <a:off x="141891" y="1339708"/>
            <a:ext cx="5785944" cy="21760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Activité 1. </a:t>
            </a:r>
            <a:r>
              <a:rPr lang="fr-FR" dirty="0" smtClean="0"/>
              <a:t>Ouvrir </a:t>
            </a:r>
            <a:r>
              <a:rPr lang="fr-FR" dirty="0" err="1" smtClean="0"/>
              <a:t>Rstudio</a:t>
            </a:r>
            <a:r>
              <a:rPr lang="fr-FR" dirty="0" smtClean="0"/>
              <a:t>, et créer un nouveau fichier R </a:t>
            </a:r>
            <a:r>
              <a:rPr lang="fr-FR" dirty="0" err="1" smtClean="0"/>
              <a:t>Markdown</a:t>
            </a:r>
            <a:r>
              <a:rPr lang="fr-FR" dirty="0" smtClean="0"/>
              <a:t> (File-&gt; New File -&gt; R </a:t>
            </a:r>
            <a:r>
              <a:rPr lang="fr-FR" dirty="0" err="1" smtClean="0"/>
              <a:t>Markdown</a:t>
            </a:r>
            <a:r>
              <a:rPr lang="fr-FR" dirty="0" smtClean="0"/>
              <a:t>). </a:t>
            </a:r>
          </a:p>
          <a:p>
            <a:pPr marL="457200" lvl="1" indent="0">
              <a:buFont typeface="Arial" panose="020B0604020202020204" pitchFamily="34" charset="0"/>
              <a:buNone/>
            </a:pPr>
            <a:r>
              <a:rPr lang="fr-FR" i="1" dirty="0" smtClean="0"/>
              <a:t>Remarque. </a:t>
            </a:r>
            <a:r>
              <a:rPr lang="fr-FR" dirty="0" smtClean="0"/>
              <a:t>Si c’est la première fois, des packages seront installés d’abord. </a:t>
            </a:r>
            <a:endParaRPr lang="fr-FR" dirty="0"/>
          </a:p>
        </p:txBody>
      </p:sp>
      <p:pic>
        <p:nvPicPr>
          <p:cNvPr id="12" name="Image 11"/>
          <p:cNvPicPr>
            <a:picLocks noChangeAspect="1"/>
          </p:cNvPicPr>
          <p:nvPr/>
        </p:nvPicPr>
        <p:blipFill>
          <a:blip r:embed="rId2"/>
          <a:stretch>
            <a:fillRect/>
          </a:stretch>
        </p:blipFill>
        <p:spPr>
          <a:xfrm>
            <a:off x="6095387" y="1202532"/>
            <a:ext cx="5902207" cy="5156665"/>
          </a:xfrm>
          <a:prstGeom prst="rect">
            <a:avLst/>
          </a:prstGeom>
        </p:spPr>
      </p:pic>
      <p:sp>
        <p:nvSpPr>
          <p:cNvPr id="13" name="Espace réservé du contenu 2"/>
          <p:cNvSpPr txBox="1">
            <a:spLocks/>
          </p:cNvSpPr>
          <p:nvPr/>
        </p:nvSpPr>
        <p:spPr>
          <a:xfrm>
            <a:off x="28945" y="3447934"/>
            <a:ext cx="5778956" cy="1245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Activité 2. </a:t>
            </a:r>
            <a:r>
              <a:rPr lang="fr-FR" dirty="0" smtClean="0"/>
              <a:t>Mettre le titre et l’auteur que vous souhaitez, choisir le Default Output Format à Word, puis OK. </a:t>
            </a:r>
            <a:endParaRPr lang="fr-FR" dirty="0"/>
          </a:p>
        </p:txBody>
      </p:sp>
    </p:spTree>
    <p:extLst>
      <p:ext uri="{BB962C8B-B14F-4D97-AF65-F5344CB8AC3E}">
        <p14:creationId xmlns:p14="http://schemas.microsoft.com/office/powerpoint/2010/main" val="23407345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6551" y="61952"/>
            <a:ext cx="10515600" cy="934725"/>
          </a:xfrm>
        </p:spPr>
        <p:txBody>
          <a:bodyPr/>
          <a:lstStyle/>
          <a:p>
            <a:r>
              <a:rPr lang="fr-FR" dirty="0" smtClean="0"/>
              <a:t>Fonctionnement d’un fichier R </a:t>
            </a:r>
            <a:r>
              <a:rPr lang="fr-FR" dirty="0" err="1" smtClean="0"/>
              <a:t>Markdown</a:t>
            </a:r>
            <a:endParaRPr lang="fr-FR" dirty="0"/>
          </a:p>
        </p:txBody>
      </p:sp>
      <p:sp>
        <p:nvSpPr>
          <p:cNvPr id="3" name="Espace réservé du contenu 2"/>
          <p:cNvSpPr>
            <a:spLocks noGrp="1"/>
          </p:cNvSpPr>
          <p:nvPr>
            <p:ph idx="1"/>
          </p:nvPr>
        </p:nvSpPr>
        <p:spPr>
          <a:xfrm>
            <a:off x="4314478" y="1245476"/>
            <a:ext cx="2866790" cy="1047274"/>
          </a:xfrm>
        </p:spPr>
        <p:txBody>
          <a:bodyPr>
            <a:normAutofit fontScale="77500" lnSpcReduction="20000"/>
          </a:bodyPr>
          <a:lstStyle/>
          <a:p>
            <a:pPr marL="0" indent="0">
              <a:buNone/>
            </a:pPr>
            <a:r>
              <a:rPr lang="fr-FR" dirty="0" smtClean="0"/>
              <a:t>Préambule = paramétrage, ne pas changer pour le moment</a:t>
            </a:r>
            <a:endParaRPr lang="fr-FR" dirty="0"/>
          </a:p>
        </p:txBody>
      </p:sp>
      <p:sp>
        <p:nvSpPr>
          <p:cNvPr id="4" name="Espace réservé du numéro de diapositive 3"/>
          <p:cNvSpPr>
            <a:spLocks noGrp="1"/>
          </p:cNvSpPr>
          <p:nvPr>
            <p:ph type="sldNum" sz="quarter" idx="12"/>
          </p:nvPr>
        </p:nvSpPr>
        <p:spPr/>
        <p:txBody>
          <a:bodyPr/>
          <a:lstStyle/>
          <a:p>
            <a:fld id="{03D531E5-4024-4EE5-9966-ACD611FABC2C}" type="slidenum">
              <a:rPr lang="fr-FR" smtClean="0"/>
              <a:t>3</a:t>
            </a:fld>
            <a:endParaRPr lang="fr-FR"/>
          </a:p>
        </p:txBody>
      </p:sp>
      <p:pic>
        <p:nvPicPr>
          <p:cNvPr id="5" name="Image 4"/>
          <p:cNvPicPr>
            <a:picLocks noChangeAspect="1"/>
          </p:cNvPicPr>
          <p:nvPr/>
        </p:nvPicPr>
        <p:blipFill>
          <a:blip r:embed="rId2"/>
          <a:stretch>
            <a:fillRect/>
          </a:stretch>
        </p:blipFill>
        <p:spPr>
          <a:xfrm>
            <a:off x="7336259" y="1618793"/>
            <a:ext cx="4172532" cy="3858163"/>
          </a:xfrm>
          <a:prstGeom prst="rect">
            <a:avLst/>
          </a:prstGeom>
        </p:spPr>
      </p:pic>
      <p:sp>
        <p:nvSpPr>
          <p:cNvPr id="6" name="Rectangle à coins arrondis 5"/>
          <p:cNvSpPr/>
          <p:nvPr/>
        </p:nvSpPr>
        <p:spPr>
          <a:xfrm>
            <a:off x="4114800" y="1245476"/>
            <a:ext cx="3221459" cy="1028536"/>
          </a:xfrm>
          <a:prstGeom prst="wedgeRoundRectCallout">
            <a:avLst>
              <a:gd name="adj1" fmla="val 75577"/>
              <a:gd name="adj2" fmla="val 13851"/>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4045836" y="2432927"/>
            <a:ext cx="3221459" cy="583324"/>
          </a:xfrm>
          <a:prstGeom prst="wedgeRoundRectCallout">
            <a:avLst>
              <a:gd name="adj1" fmla="val 75577"/>
              <a:gd name="adj2" fmla="val 13851"/>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contenu 2"/>
          <p:cNvSpPr txBox="1">
            <a:spLocks/>
          </p:cNvSpPr>
          <p:nvPr/>
        </p:nvSpPr>
        <p:spPr>
          <a:xfrm>
            <a:off x="4472837" y="2508907"/>
            <a:ext cx="2367455" cy="4250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err="1" smtClean="0"/>
              <a:t>Chunk</a:t>
            </a:r>
            <a:endParaRPr lang="fr-FR" dirty="0"/>
          </a:p>
        </p:txBody>
      </p:sp>
      <p:sp>
        <p:nvSpPr>
          <p:cNvPr id="9" name="Rectangle à coins arrondis 8"/>
          <p:cNvSpPr/>
          <p:nvPr/>
        </p:nvSpPr>
        <p:spPr>
          <a:xfrm>
            <a:off x="3901299" y="3092231"/>
            <a:ext cx="3221459" cy="1574362"/>
          </a:xfrm>
          <a:prstGeom prst="wedgeRoundRectCallout">
            <a:avLst>
              <a:gd name="adj1" fmla="val 64321"/>
              <a:gd name="adj2" fmla="val -3869"/>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space réservé du contenu 2"/>
          <p:cNvSpPr txBox="1">
            <a:spLocks/>
          </p:cNvSpPr>
          <p:nvPr/>
        </p:nvSpPr>
        <p:spPr>
          <a:xfrm>
            <a:off x="4114800" y="3237904"/>
            <a:ext cx="2367455" cy="117989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smtClean="0"/>
              <a:t>Texte libre, un # précède un titre, ## un sous-titre</a:t>
            </a:r>
            <a:endParaRPr lang="fr-FR" dirty="0"/>
          </a:p>
        </p:txBody>
      </p:sp>
      <p:sp>
        <p:nvSpPr>
          <p:cNvPr id="11" name="Rectangle à coins arrondis 10"/>
          <p:cNvSpPr/>
          <p:nvPr/>
        </p:nvSpPr>
        <p:spPr>
          <a:xfrm>
            <a:off x="3584351" y="4876748"/>
            <a:ext cx="3221459" cy="1191387"/>
          </a:xfrm>
          <a:prstGeom prst="wedgeRoundRectCallout">
            <a:avLst>
              <a:gd name="adj1" fmla="val 78513"/>
              <a:gd name="adj2" fmla="val -29818"/>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4083948" y="4897871"/>
            <a:ext cx="2721862" cy="954107"/>
          </a:xfrm>
          <a:prstGeom prst="rect">
            <a:avLst/>
          </a:prstGeom>
        </p:spPr>
        <p:txBody>
          <a:bodyPr wrap="square">
            <a:spAutoFit/>
          </a:bodyPr>
          <a:lstStyle/>
          <a:p>
            <a:r>
              <a:rPr lang="fr-FR" sz="2800" dirty="0" err="1" smtClean="0"/>
              <a:t>Chunk</a:t>
            </a:r>
            <a:r>
              <a:rPr lang="fr-FR" sz="2800" dirty="0" smtClean="0"/>
              <a:t>, contient les commandes R</a:t>
            </a:r>
            <a:endParaRPr lang="fr-FR" sz="2800" dirty="0"/>
          </a:p>
        </p:txBody>
      </p:sp>
      <p:sp>
        <p:nvSpPr>
          <p:cNvPr id="13" name="Rectangle 12"/>
          <p:cNvSpPr/>
          <p:nvPr/>
        </p:nvSpPr>
        <p:spPr>
          <a:xfrm>
            <a:off x="555181" y="739192"/>
            <a:ext cx="3132615" cy="3108543"/>
          </a:xfrm>
          <a:prstGeom prst="rect">
            <a:avLst/>
          </a:prstGeom>
        </p:spPr>
        <p:txBody>
          <a:bodyPr wrap="square">
            <a:spAutoFit/>
          </a:bodyPr>
          <a:lstStyle/>
          <a:p>
            <a:r>
              <a:rPr lang="fr-FR" sz="2800" i="1" dirty="0" smtClean="0"/>
              <a:t>Activité 3. </a:t>
            </a:r>
            <a:r>
              <a:rPr lang="fr-FR" sz="2800" dirty="0" smtClean="0"/>
              <a:t>Enregistrer le fichier sous le nom « stat1.Rmd », puis cliquer sur </a:t>
            </a:r>
            <a:r>
              <a:rPr lang="fr-FR" sz="2800" dirty="0" err="1" smtClean="0"/>
              <a:t>Knit</a:t>
            </a:r>
            <a:r>
              <a:rPr lang="fr-FR" sz="2800" dirty="0" smtClean="0"/>
              <a:t> pour créer le fichier Word.  </a:t>
            </a:r>
            <a:endParaRPr lang="fr-FR" sz="2800" dirty="0"/>
          </a:p>
        </p:txBody>
      </p:sp>
      <p:sp>
        <p:nvSpPr>
          <p:cNvPr id="14" name="Rectangle 13"/>
          <p:cNvSpPr/>
          <p:nvPr/>
        </p:nvSpPr>
        <p:spPr>
          <a:xfrm>
            <a:off x="387735" y="3821366"/>
            <a:ext cx="3055710" cy="2677656"/>
          </a:xfrm>
          <a:prstGeom prst="rect">
            <a:avLst/>
          </a:prstGeom>
        </p:spPr>
        <p:txBody>
          <a:bodyPr wrap="square">
            <a:spAutoFit/>
          </a:bodyPr>
          <a:lstStyle/>
          <a:p>
            <a:r>
              <a:rPr lang="fr-FR" sz="2800" i="1" dirty="0" smtClean="0"/>
              <a:t>Activité 4. </a:t>
            </a:r>
            <a:r>
              <a:rPr lang="fr-FR" sz="2800" dirty="0" smtClean="0"/>
              <a:t>Effacer tout sauf le préambule, puis ouvrir un nouveau </a:t>
            </a:r>
            <a:r>
              <a:rPr lang="fr-FR" sz="2800" dirty="0" err="1" smtClean="0"/>
              <a:t>chunk</a:t>
            </a:r>
            <a:r>
              <a:rPr lang="fr-FR" sz="2800" dirty="0" smtClean="0"/>
              <a:t> avec le bouton</a:t>
            </a:r>
            <a:endParaRPr lang="fr-FR" sz="2800" dirty="0"/>
          </a:p>
        </p:txBody>
      </p:sp>
      <p:pic>
        <p:nvPicPr>
          <p:cNvPr id="15" name="Image 14"/>
          <p:cNvPicPr>
            <a:picLocks noChangeAspect="1"/>
          </p:cNvPicPr>
          <p:nvPr/>
        </p:nvPicPr>
        <p:blipFill>
          <a:blip r:embed="rId3"/>
          <a:stretch>
            <a:fillRect/>
          </a:stretch>
        </p:blipFill>
        <p:spPr>
          <a:xfrm>
            <a:off x="1725106" y="5949421"/>
            <a:ext cx="792763" cy="589491"/>
          </a:xfrm>
          <a:prstGeom prst="rect">
            <a:avLst/>
          </a:prstGeom>
        </p:spPr>
      </p:pic>
    </p:spTree>
    <p:extLst>
      <p:ext uri="{BB962C8B-B14F-4D97-AF65-F5344CB8AC3E}">
        <p14:creationId xmlns:p14="http://schemas.microsoft.com/office/powerpoint/2010/main" val="4123824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964406"/>
          </a:xfrm>
        </p:spPr>
        <p:txBody>
          <a:bodyPr>
            <a:normAutofit/>
          </a:bodyPr>
          <a:lstStyle/>
          <a:p>
            <a:r>
              <a:rPr lang="fr-FR" dirty="0" smtClean="0"/>
              <a:t>II. Importation et examen</a:t>
            </a:r>
            <a:r>
              <a:rPr lang="fr-FR" sz="3600" dirty="0"/>
              <a:t> </a:t>
            </a:r>
            <a:r>
              <a:rPr lang="fr-FR" dirty="0"/>
              <a:t>des données </a:t>
            </a:r>
          </a:p>
        </p:txBody>
      </p:sp>
      <p:sp>
        <p:nvSpPr>
          <p:cNvPr id="3" name="Espace réservé du contenu 2"/>
          <p:cNvSpPr>
            <a:spLocks noGrp="1"/>
          </p:cNvSpPr>
          <p:nvPr>
            <p:ph idx="1"/>
          </p:nvPr>
        </p:nvSpPr>
        <p:spPr>
          <a:xfrm>
            <a:off x="770021" y="1202532"/>
            <a:ext cx="10853708" cy="1462349"/>
          </a:xfrm>
        </p:spPr>
        <p:txBody>
          <a:bodyPr>
            <a:normAutofit fontScale="77500" lnSpcReduction="20000"/>
          </a:bodyPr>
          <a:lstStyle/>
          <a:p>
            <a:r>
              <a:rPr lang="fr-FR" dirty="0" smtClean="0"/>
              <a:t>Désormais, les commandes R seront écrites dans des </a:t>
            </a:r>
            <a:r>
              <a:rPr lang="fr-FR" dirty="0" err="1" smtClean="0"/>
              <a:t>chunks</a:t>
            </a:r>
            <a:r>
              <a:rPr lang="fr-FR" dirty="0" smtClean="0"/>
              <a:t>. On pourra exécuter ces </a:t>
            </a:r>
            <a:r>
              <a:rPr lang="fr-FR" dirty="0" err="1" smtClean="0"/>
              <a:t>chunks</a:t>
            </a:r>
            <a:r>
              <a:rPr lang="fr-FR" dirty="0" smtClean="0"/>
              <a:t> un après l’autre avec le bouton </a:t>
            </a:r>
            <a:r>
              <a:rPr lang="fr-FR" dirty="0" err="1" smtClean="0"/>
              <a:t>play</a:t>
            </a:r>
            <a:r>
              <a:rPr lang="fr-FR" dirty="0" smtClean="0"/>
              <a:t>. </a:t>
            </a:r>
          </a:p>
          <a:p>
            <a:r>
              <a:rPr lang="fr-FR" dirty="0" smtClean="0"/>
              <a:t>On considère les données de </a:t>
            </a:r>
            <a:r>
              <a:rPr lang="fr-FR" dirty="0" err="1" smtClean="0"/>
              <a:t>natura</a:t>
            </a:r>
            <a:r>
              <a:rPr lang="fr-FR" dirty="0" smtClean="0"/>
              <a:t> 2000, qui recensent les site classés </a:t>
            </a:r>
            <a:r>
              <a:rPr lang="fr-FR" dirty="0" err="1" smtClean="0"/>
              <a:t>Natura</a:t>
            </a:r>
            <a:r>
              <a:rPr lang="fr-FR" dirty="0" smtClean="0"/>
              <a:t> 2000 en France Métropolitaine (</a:t>
            </a:r>
            <a:r>
              <a:rPr lang="fr-FR" dirty="0"/>
              <a:t>https://www.natura2000.fr/</a:t>
            </a:r>
            <a:r>
              <a:rPr lang="fr-FR" dirty="0" smtClean="0"/>
              <a:t>). Les données sont dans le fichier </a:t>
            </a:r>
            <a:r>
              <a:rPr lang="fr-FR" dirty="0" smtClean="0">
                <a:solidFill>
                  <a:srgbClr val="0070C0"/>
                </a:solidFill>
              </a:rPr>
              <a:t>n2000.csv</a:t>
            </a:r>
            <a:r>
              <a:rPr lang="fr-FR" dirty="0" smtClean="0"/>
              <a:t>. </a:t>
            </a:r>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4</a:t>
            </a:fld>
            <a:endParaRPr lang="fr-FR"/>
          </a:p>
        </p:txBody>
      </p:sp>
      <p:sp>
        <p:nvSpPr>
          <p:cNvPr id="7" name="Espace réservé du contenu 2"/>
          <p:cNvSpPr txBox="1">
            <a:spLocks/>
          </p:cNvSpPr>
          <p:nvPr/>
        </p:nvSpPr>
        <p:spPr>
          <a:xfrm>
            <a:off x="301338" y="4045874"/>
            <a:ext cx="8158524" cy="565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1. </a:t>
            </a:r>
            <a:r>
              <a:rPr lang="fr-FR" dirty="0" smtClean="0"/>
              <a:t>Expliquer pourquoi on utilise ces options.  </a:t>
            </a:r>
            <a:endParaRPr lang="fr-FR" dirty="0"/>
          </a:p>
        </p:txBody>
      </p:sp>
      <p:sp>
        <p:nvSpPr>
          <p:cNvPr id="8" name="Espace réservé du contenu 2"/>
          <p:cNvSpPr txBox="1">
            <a:spLocks/>
          </p:cNvSpPr>
          <p:nvPr/>
        </p:nvSpPr>
        <p:spPr>
          <a:xfrm>
            <a:off x="301338" y="2750419"/>
            <a:ext cx="11322391" cy="109530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Activité </a:t>
            </a:r>
            <a:r>
              <a:rPr lang="fr-FR" i="1" dirty="0"/>
              <a:t>5</a:t>
            </a:r>
            <a:r>
              <a:rPr lang="fr-FR" i="1" dirty="0" smtClean="0"/>
              <a:t>. </a:t>
            </a:r>
            <a:r>
              <a:rPr lang="fr-FR" dirty="0" smtClean="0"/>
              <a:t>Importer ces données du fichier n2000.csv, et générer le tableau R n2000. </a:t>
            </a:r>
          </a:p>
          <a:p>
            <a:pPr marL="457200" lvl="1" indent="0">
              <a:buNone/>
            </a:pPr>
            <a:r>
              <a:rPr lang="fr-FR" i="1" dirty="0" smtClean="0"/>
              <a:t>Piste : </a:t>
            </a:r>
            <a:r>
              <a:rPr lang="fr-FR" dirty="0" smtClean="0"/>
              <a:t>utiliser la fonction </a:t>
            </a:r>
            <a:r>
              <a:rPr lang="fr-FR" dirty="0" smtClean="0">
                <a:solidFill>
                  <a:srgbClr val="0070C0"/>
                </a:solidFill>
              </a:rPr>
              <a:t>read.csv</a:t>
            </a:r>
            <a:r>
              <a:rPr lang="fr-FR" dirty="0" smtClean="0"/>
              <a:t>. Les options </a:t>
            </a:r>
            <a:r>
              <a:rPr lang="fr-FR" dirty="0"/>
              <a:t>nécessaires sont </a:t>
            </a:r>
            <a:r>
              <a:rPr lang="fr-FR" dirty="0">
                <a:solidFill>
                  <a:srgbClr val="0070C0"/>
                </a:solidFill>
              </a:rPr>
              <a:t>sep=";" </a:t>
            </a:r>
            <a:r>
              <a:rPr lang="fr-FR" dirty="0"/>
              <a:t>et </a:t>
            </a:r>
            <a:r>
              <a:rPr lang="fr-FR" dirty="0" err="1">
                <a:solidFill>
                  <a:srgbClr val="0070C0"/>
                </a:solidFill>
              </a:rPr>
              <a:t>encoding</a:t>
            </a:r>
            <a:r>
              <a:rPr lang="fr-FR" dirty="0">
                <a:solidFill>
                  <a:srgbClr val="0070C0"/>
                </a:solidFill>
              </a:rPr>
              <a:t>="latin1"</a:t>
            </a:r>
            <a:r>
              <a:rPr lang="fr-FR" dirty="0"/>
              <a:t>.</a:t>
            </a:r>
          </a:p>
        </p:txBody>
      </p:sp>
      <p:pic>
        <p:nvPicPr>
          <p:cNvPr id="5" name="Image 4"/>
          <p:cNvPicPr>
            <a:picLocks noChangeAspect="1"/>
          </p:cNvPicPr>
          <p:nvPr/>
        </p:nvPicPr>
        <p:blipFill>
          <a:blip r:embed="rId2"/>
          <a:stretch>
            <a:fillRect/>
          </a:stretch>
        </p:blipFill>
        <p:spPr>
          <a:xfrm>
            <a:off x="8120694" y="3845725"/>
            <a:ext cx="3800666" cy="2693187"/>
          </a:xfrm>
          <a:prstGeom prst="rect">
            <a:avLst/>
          </a:prstGeom>
        </p:spPr>
      </p:pic>
      <p:sp>
        <p:nvSpPr>
          <p:cNvPr id="9" name="Espace réservé du contenu 2"/>
          <p:cNvSpPr txBox="1">
            <a:spLocks/>
          </p:cNvSpPr>
          <p:nvPr/>
        </p:nvSpPr>
        <p:spPr>
          <a:xfrm>
            <a:off x="301338" y="4605500"/>
            <a:ext cx="7912496" cy="1275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Activité </a:t>
            </a:r>
            <a:r>
              <a:rPr lang="fr-FR" i="1" dirty="0"/>
              <a:t>6</a:t>
            </a:r>
            <a:r>
              <a:rPr lang="fr-FR" i="1" dirty="0" smtClean="0"/>
              <a:t>. </a:t>
            </a:r>
            <a:r>
              <a:rPr lang="fr-FR" dirty="0" smtClean="0"/>
              <a:t>Tracer le nuage des points des sites, d’abord avec la fonction plot de base, puis avec la fonction </a:t>
            </a:r>
            <a:r>
              <a:rPr lang="fr-FR" dirty="0" err="1" smtClean="0"/>
              <a:t>ggplot</a:t>
            </a:r>
            <a:r>
              <a:rPr lang="fr-FR" dirty="0" smtClean="0"/>
              <a:t> du package ggplot2, comme ci-contre. </a:t>
            </a:r>
            <a:endParaRPr lang="fr-FR" dirty="0"/>
          </a:p>
        </p:txBody>
      </p:sp>
      <p:sp>
        <p:nvSpPr>
          <p:cNvPr id="11" name="Espace réservé du contenu 2"/>
          <p:cNvSpPr txBox="1">
            <a:spLocks/>
          </p:cNvSpPr>
          <p:nvPr/>
        </p:nvSpPr>
        <p:spPr>
          <a:xfrm>
            <a:off x="301338" y="5992106"/>
            <a:ext cx="7628717" cy="880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2. </a:t>
            </a:r>
            <a:r>
              <a:rPr lang="fr-FR" dirty="0" smtClean="0"/>
              <a:t>Décrire le tableau (individus, variables, types des variables).  </a:t>
            </a:r>
            <a:endParaRPr lang="fr-FR" dirty="0"/>
          </a:p>
        </p:txBody>
      </p:sp>
      <p:pic>
        <p:nvPicPr>
          <p:cNvPr id="4" name="Image 3"/>
          <p:cNvPicPr>
            <a:picLocks noChangeAspect="1"/>
          </p:cNvPicPr>
          <p:nvPr/>
        </p:nvPicPr>
        <p:blipFill>
          <a:blip r:embed="rId3"/>
          <a:stretch>
            <a:fillRect/>
          </a:stretch>
        </p:blipFill>
        <p:spPr>
          <a:xfrm>
            <a:off x="8610600" y="1520013"/>
            <a:ext cx="470338" cy="427582"/>
          </a:xfrm>
          <a:prstGeom prst="rect">
            <a:avLst/>
          </a:prstGeom>
        </p:spPr>
      </p:pic>
    </p:spTree>
    <p:extLst>
      <p:ext uri="{BB962C8B-B14F-4D97-AF65-F5344CB8AC3E}">
        <p14:creationId xmlns:p14="http://schemas.microsoft.com/office/powerpoint/2010/main" val="23687056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750466"/>
          </a:xfrm>
        </p:spPr>
        <p:txBody>
          <a:bodyPr>
            <a:normAutofit/>
          </a:bodyPr>
          <a:lstStyle/>
          <a:p>
            <a:r>
              <a:rPr lang="fr-FR" dirty="0" smtClean="0"/>
              <a:t>III. Statistiques </a:t>
            </a:r>
            <a:r>
              <a:rPr lang="fr-FR" dirty="0"/>
              <a:t>simples quantitatives</a:t>
            </a:r>
          </a:p>
        </p:txBody>
      </p:sp>
      <p:sp>
        <p:nvSpPr>
          <p:cNvPr id="3" name="Espace réservé du contenu 2"/>
          <p:cNvSpPr>
            <a:spLocks noGrp="1"/>
          </p:cNvSpPr>
          <p:nvPr>
            <p:ph idx="1"/>
          </p:nvPr>
        </p:nvSpPr>
        <p:spPr>
          <a:xfrm>
            <a:off x="301338" y="817778"/>
            <a:ext cx="11508370" cy="1767767"/>
          </a:xfrm>
        </p:spPr>
        <p:txBody>
          <a:bodyPr>
            <a:normAutofit fontScale="85000" lnSpcReduction="10000"/>
          </a:bodyPr>
          <a:lstStyle/>
          <a:p>
            <a:r>
              <a:rPr lang="fr-FR" i="1" dirty="0" smtClean="0"/>
              <a:t>Activité 7.</a:t>
            </a:r>
            <a:r>
              <a:rPr lang="fr-FR" dirty="0" smtClean="0"/>
              <a:t> Calculer les statistiques élémentaires pour les variables quantitatives, grâce à la fonction </a:t>
            </a:r>
            <a:r>
              <a:rPr lang="fr-FR" dirty="0" err="1" smtClean="0"/>
              <a:t>summary</a:t>
            </a:r>
            <a:r>
              <a:rPr lang="fr-FR" dirty="0" smtClean="0"/>
              <a:t>, puis avec les fonctions </a:t>
            </a:r>
            <a:r>
              <a:rPr lang="fr-FR" dirty="0" err="1" smtClean="0"/>
              <a:t>mean</a:t>
            </a:r>
            <a:r>
              <a:rPr lang="fr-FR" dirty="0" smtClean="0"/>
              <a:t>, </a:t>
            </a:r>
            <a:r>
              <a:rPr lang="fr-FR" dirty="0" err="1" smtClean="0"/>
              <a:t>sd</a:t>
            </a:r>
            <a:r>
              <a:rPr lang="fr-FR" dirty="0" smtClean="0"/>
              <a:t>, min, max, </a:t>
            </a:r>
            <a:r>
              <a:rPr lang="fr-FR" dirty="0" err="1" smtClean="0"/>
              <a:t>median</a:t>
            </a:r>
            <a:r>
              <a:rPr lang="fr-FR" dirty="0" smtClean="0"/>
              <a:t>, quantile, </a:t>
            </a:r>
            <a:r>
              <a:rPr lang="fr-FR" dirty="0" err="1" smtClean="0"/>
              <a:t>skewness</a:t>
            </a:r>
            <a:r>
              <a:rPr lang="fr-FR" dirty="0"/>
              <a:t> </a:t>
            </a:r>
            <a:r>
              <a:rPr lang="fr-FR" dirty="0" smtClean="0"/>
              <a:t>et </a:t>
            </a:r>
            <a:r>
              <a:rPr lang="fr-FR" dirty="0" err="1" smtClean="0"/>
              <a:t>kurtosis</a:t>
            </a:r>
            <a:r>
              <a:rPr lang="fr-FR" dirty="0" smtClean="0"/>
              <a:t>. On utilisera la fonction </a:t>
            </a:r>
            <a:r>
              <a:rPr lang="fr-FR" dirty="0" err="1" smtClean="0"/>
              <a:t>tapply</a:t>
            </a:r>
            <a:r>
              <a:rPr lang="fr-FR" dirty="0" smtClean="0"/>
              <a:t> pour appliquer ces fonctions à toutes les variables en une commande. Le résultat pourra ressembler à ceci :</a:t>
            </a:r>
          </a:p>
          <a:p>
            <a:pPr marL="0" indent="0">
              <a:buNone/>
            </a:pPr>
            <a:r>
              <a:rPr lang="fr-FR" dirty="0" smtClean="0"/>
              <a:t> </a:t>
            </a:r>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5</a:t>
            </a:fld>
            <a:endParaRPr lang="fr-FR"/>
          </a:p>
        </p:txBody>
      </p:sp>
      <p:sp>
        <p:nvSpPr>
          <p:cNvPr id="7" name="Espace réservé du contenu 2"/>
          <p:cNvSpPr txBox="1">
            <a:spLocks/>
          </p:cNvSpPr>
          <p:nvPr/>
        </p:nvSpPr>
        <p:spPr>
          <a:xfrm>
            <a:off x="301338" y="5912593"/>
            <a:ext cx="5665509" cy="6263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2. </a:t>
            </a:r>
            <a:r>
              <a:rPr lang="fr-FR" dirty="0" smtClean="0"/>
              <a:t>Commenter ces répartitions.  </a:t>
            </a:r>
            <a:endParaRPr lang="fr-FR" dirty="0"/>
          </a:p>
        </p:txBody>
      </p:sp>
      <p:sp>
        <p:nvSpPr>
          <p:cNvPr id="9" name="Espace réservé du contenu 2"/>
          <p:cNvSpPr txBox="1">
            <a:spLocks/>
          </p:cNvSpPr>
          <p:nvPr/>
        </p:nvSpPr>
        <p:spPr>
          <a:xfrm>
            <a:off x="441612" y="3578901"/>
            <a:ext cx="7447025" cy="23336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i="1" dirty="0" smtClean="0"/>
              <a:t>Remarque : </a:t>
            </a:r>
            <a:r>
              <a:rPr lang="fr-FR" dirty="0" smtClean="0"/>
              <a:t>pour </a:t>
            </a:r>
            <a:r>
              <a:rPr lang="fr-FR" dirty="0" err="1" smtClean="0"/>
              <a:t>skewness</a:t>
            </a:r>
            <a:r>
              <a:rPr lang="fr-FR" dirty="0" smtClean="0"/>
              <a:t> et </a:t>
            </a:r>
            <a:r>
              <a:rPr lang="fr-FR" dirty="0" err="1" smtClean="0"/>
              <a:t>kurtosis</a:t>
            </a:r>
            <a:r>
              <a:rPr lang="fr-FR" dirty="0" smtClean="0"/>
              <a:t>, il faudra créer la fonction au préalable. </a:t>
            </a:r>
          </a:p>
          <a:p>
            <a:r>
              <a:rPr lang="fr-FR" i="1" dirty="0" smtClean="0"/>
              <a:t>Activité 8.</a:t>
            </a:r>
            <a:r>
              <a:rPr lang="fr-FR" dirty="0" smtClean="0"/>
              <a:t> Tracer les histogrammes et les diagrammes en boîtes et moustaches de ces variables, grâce aux fonctions </a:t>
            </a:r>
            <a:r>
              <a:rPr lang="fr-FR" dirty="0" err="1" smtClean="0"/>
              <a:t>hist</a:t>
            </a:r>
            <a:r>
              <a:rPr lang="fr-FR" dirty="0" smtClean="0"/>
              <a:t> et </a:t>
            </a:r>
            <a:r>
              <a:rPr lang="fr-FR" dirty="0" err="1" smtClean="0"/>
              <a:t>boxplot</a:t>
            </a:r>
            <a:r>
              <a:rPr lang="fr-FR" dirty="0" smtClean="0"/>
              <a:t>. Avec la fonction </a:t>
            </a:r>
            <a:r>
              <a:rPr lang="fr-FR" dirty="0" err="1" smtClean="0"/>
              <a:t>hist</a:t>
            </a:r>
            <a:r>
              <a:rPr lang="fr-FR" dirty="0" smtClean="0"/>
              <a:t>, on changera les intervalles par défaut avec l’option breaks, et si les intervalles sont d’amplitude inégale, on ajoutera l’option </a:t>
            </a:r>
            <a:r>
              <a:rPr lang="fr-FR" dirty="0" err="1" smtClean="0"/>
              <a:t>freq</a:t>
            </a:r>
            <a:r>
              <a:rPr lang="fr-FR" dirty="0" smtClean="0"/>
              <a:t>=FALSE. Exemple pour la surface : </a:t>
            </a:r>
          </a:p>
        </p:txBody>
      </p:sp>
      <p:pic>
        <p:nvPicPr>
          <p:cNvPr id="10" name="Image 9"/>
          <p:cNvPicPr>
            <a:picLocks noChangeAspect="1"/>
          </p:cNvPicPr>
          <p:nvPr/>
        </p:nvPicPr>
        <p:blipFill>
          <a:blip r:embed="rId2"/>
          <a:stretch>
            <a:fillRect/>
          </a:stretch>
        </p:blipFill>
        <p:spPr>
          <a:xfrm>
            <a:off x="7803397" y="3603848"/>
            <a:ext cx="2719952" cy="2946615"/>
          </a:xfrm>
          <a:prstGeom prst="rect">
            <a:avLst/>
          </a:prstGeom>
        </p:spPr>
      </p:pic>
      <p:pic>
        <p:nvPicPr>
          <p:cNvPr id="11" name="Image 10"/>
          <p:cNvPicPr>
            <a:picLocks noChangeAspect="1"/>
          </p:cNvPicPr>
          <p:nvPr/>
        </p:nvPicPr>
        <p:blipFill>
          <a:blip r:embed="rId3"/>
          <a:stretch>
            <a:fillRect/>
          </a:stretch>
        </p:blipFill>
        <p:spPr>
          <a:xfrm>
            <a:off x="10683021" y="3584324"/>
            <a:ext cx="1341557" cy="2622134"/>
          </a:xfrm>
          <a:prstGeom prst="rect">
            <a:avLst/>
          </a:prstGeom>
        </p:spPr>
      </p:pic>
      <p:pic>
        <p:nvPicPr>
          <p:cNvPr id="4" name="Image 3"/>
          <p:cNvPicPr>
            <a:picLocks noChangeAspect="1"/>
          </p:cNvPicPr>
          <p:nvPr/>
        </p:nvPicPr>
        <p:blipFill>
          <a:blip r:embed="rId4"/>
          <a:stretch>
            <a:fillRect/>
          </a:stretch>
        </p:blipFill>
        <p:spPr>
          <a:xfrm>
            <a:off x="1389451" y="2058620"/>
            <a:ext cx="8592749" cy="1276528"/>
          </a:xfrm>
          <a:prstGeom prst="rect">
            <a:avLst/>
          </a:prstGeom>
        </p:spPr>
      </p:pic>
    </p:spTree>
    <p:extLst>
      <p:ext uri="{BB962C8B-B14F-4D97-AF65-F5344CB8AC3E}">
        <p14:creationId xmlns:p14="http://schemas.microsoft.com/office/powerpoint/2010/main" val="15198036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633523"/>
          </a:xfrm>
        </p:spPr>
        <p:txBody>
          <a:bodyPr>
            <a:normAutofit fontScale="90000"/>
          </a:bodyPr>
          <a:lstStyle/>
          <a:p>
            <a:r>
              <a:rPr lang="fr-FR" dirty="0" smtClean="0"/>
              <a:t>IV. </a:t>
            </a:r>
            <a:r>
              <a:rPr lang="fr-FR" dirty="0"/>
              <a:t>Statistiques </a:t>
            </a:r>
            <a:r>
              <a:rPr lang="fr-FR" dirty="0" smtClean="0"/>
              <a:t>simples qualitatives</a:t>
            </a:r>
            <a:endParaRPr lang="fr-FR" sz="3600" b="1" dirty="0"/>
          </a:p>
        </p:txBody>
      </p:sp>
      <p:sp>
        <p:nvSpPr>
          <p:cNvPr id="3" name="Espace réservé du contenu 2"/>
          <p:cNvSpPr>
            <a:spLocks noGrp="1"/>
          </p:cNvSpPr>
          <p:nvPr>
            <p:ph idx="1"/>
          </p:nvPr>
        </p:nvSpPr>
        <p:spPr>
          <a:xfrm>
            <a:off x="770021" y="871649"/>
            <a:ext cx="10583779" cy="1301617"/>
          </a:xfrm>
        </p:spPr>
        <p:txBody>
          <a:bodyPr>
            <a:normAutofit fontScale="85000" lnSpcReduction="10000"/>
          </a:bodyPr>
          <a:lstStyle/>
          <a:p>
            <a:r>
              <a:rPr lang="fr-FR" i="1" dirty="0" smtClean="0"/>
              <a:t>Activité 9.</a:t>
            </a:r>
            <a:r>
              <a:rPr lang="fr-FR" dirty="0" smtClean="0"/>
              <a:t> Dresser les tableaux d’effectifs et de fréquences de la variable qualitative, grâce à la fonction table. On ajoutera les fréquences et on disposera dans des tableaux comme suit (le premier tableau compte le nombre de zones N2000, le deuxième cumule les surfaces par type de zone):</a:t>
            </a:r>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6</a:t>
            </a:fld>
            <a:endParaRPr lang="fr-FR"/>
          </a:p>
        </p:txBody>
      </p:sp>
      <p:sp>
        <p:nvSpPr>
          <p:cNvPr id="7" name="Espace réservé du contenu 2"/>
          <p:cNvSpPr txBox="1">
            <a:spLocks/>
          </p:cNvSpPr>
          <p:nvPr/>
        </p:nvSpPr>
        <p:spPr>
          <a:xfrm>
            <a:off x="61276" y="4434303"/>
            <a:ext cx="2573593" cy="8448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3. </a:t>
            </a:r>
            <a:r>
              <a:rPr lang="fr-FR" dirty="0" smtClean="0"/>
              <a:t>Commenter.  </a:t>
            </a:r>
            <a:endParaRPr lang="fr-FR" dirty="0"/>
          </a:p>
        </p:txBody>
      </p:sp>
      <p:sp>
        <p:nvSpPr>
          <p:cNvPr id="8" name="Espace réservé du contenu 2"/>
          <p:cNvSpPr txBox="1">
            <a:spLocks/>
          </p:cNvSpPr>
          <p:nvPr/>
        </p:nvSpPr>
        <p:spPr>
          <a:xfrm>
            <a:off x="729089" y="3087381"/>
            <a:ext cx="10583779" cy="85525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i="1" dirty="0" smtClean="0"/>
              <a:t>Activité 10. </a:t>
            </a:r>
            <a:r>
              <a:rPr lang="fr-FR" dirty="0" smtClean="0"/>
              <a:t>Tracer le diagramme en barres de cette variable, d’abord en comptant les zones, ensuite en cumulant les surfaces par catégorie. On utilisera la fonction </a:t>
            </a:r>
            <a:r>
              <a:rPr lang="fr-FR" dirty="0" err="1" smtClean="0"/>
              <a:t>barplot</a:t>
            </a:r>
            <a:r>
              <a:rPr lang="fr-FR" dirty="0"/>
              <a:t> </a:t>
            </a:r>
            <a:r>
              <a:rPr lang="fr-FR" dirty="0" smtClean="0"/>
              <a:t>de base, puis </a:t>
            </a:r>
            <a:r>
              <a:rPr lang="fr-FR" dirty="0" err="1" smtClean="0"/>
              <a:t>ggplot</a:t>
            </a:r>
            <a:r>
              <a:rPr lang="fr-FR" dirty="0" smtClean="0"/>
              <a:t> de la bibliothèque ggplot2. Exemples :</a:t>
            </a:r>
          </a:p>
        </p:txBody>
      </p:sp>
      <p:pic>
        <p:nvPicPr>
          <p:cNvPr id="4" name="Image 3"/>
          <p:cNvPicPr>
            <a:picLocks noChangeAspect="1"/>
          </p:cNvPicPr>
          <p:nvPr/>
        </p:nvPicPr>
        <p:blipFill>
          <a:blip r:embed="rId2"/>
          <a:stretch>
            <a:fillRect/>
          </a:stretch>
        </p:blipFill>
        <p:spPr>
          <a:xfrm>
            <a:off x="3594955" y="2033755"/>
            <a:ext cx="3077004" cy="971686"/>
          </a:xfrm>
          <a:prstGeom prst="rect">
            <a:avLst/>
          </a:prstGeom>
        </p:spPr>
      </p:pic>
      <p:pic>
        <p:nvPicPr>
          <p:cNvPr id="5" name="Image 4"/>
          <p:cNvPicPr>
            <a:picLocks noChangeAspect="1"/>
          </p:cNvPicPr>
          <p:nvPr/>
        </p:nvPicPr>
        <p:blipFill>
          <a:blip r:embed="rId3"/>
          <a:stretch>
            <a:fillRect/>
          </a:stretch>
        </p:blipFill>
        <p:spPr>
          <a:xfrm>
            <a:off x="3281678" y="4237319"/>
            <a:ext cx="2526223" cy="2062493"/>
          </a:xfrm>
          <a:prstGeom prst="rect">
            <a:avLst/>
          </a:prstGeom>
        </p:spPr>
      </p:pic>
      <p:pic>
        <p:nvPicPr>
          <p:cNvPr id="9" name="Image 8"/>
          <p:cNvPicPr>
            <a:picLocks noChangeAspect="1"/>
          </p:cNvPicPr>
          <p:nvPr/>
        </p:nvPicPr>
        <p:blipFill>
          <a:blip r:embed="rId4"/>
          <a:stretch>
            <a:fillRect/>
          </a:stretch>
        </p:blipFill>
        <p:spPr>
          <a:xfrm>
            <a:off x="6952827" y="2033755"/>
            <a:ext cx="3029373" cy="943107"/>
          </a:xfrm>
          <a:prstGeom prst="rect">
            <a:avLst/>
          </a:prstGeom>
        </p:spPr>
      </p:pic>
      <p:pic>
        <p:nvPicPr>
          <p:cNvPr id="10" name="Image 9"/>
          <p:cNvPicPr>
            <a:picLocks noChangeAspect="1"/>
          </p:cNvPicPr>
          <p:nvPr/>
        </p:nvPicPr>
        <p:blipFill>
          <a:blip r:embed="rId5"/>
          <a:stretch>
            <a:fillRect/>
          </a:stretch>
        </p:blipFill>
        <p:spPr>
          <a:xfrm>
            <a:off x="6214648" y="4197157"/>
            <a:ext cx="2395952" cy="2102655"/>
          </a:xfrm>
          <a:prstGeom prst="rect">
            <a:avLst/>
          </a:prstGeom>
        </p:spPr>
      </p:pic>
      <p:pic>
        <p:nvPicPr>
          <p:cNvPr id="11" name="Image 10"/>
          <p:cNvPicPr>
            <a:picLocks noChangeAspect="1"/>
          </p:cNvPicPr>
          <p:nvPr/>
        </p:nvPicPr>
        <p:blipFill>
          <a:blip r:embed="rId6"/>
          <a:stretch>
            <a:fillRect/>
          </a:stretch>
        </p:blipFill>
        <p:spPr>
          <a:xfrm>
            <a:off x="9165853" y="4138968"/>
            <a:ext cx="2187947" cy="1999979"/>
          </a:xfrm>
          <a:prstGeom prst="rect">
            <a:avLst/>
          </a:prstGeom>
        </p:spPr>
      </p:pic>
    </p:spTree>
    <p:extLst>
      <p:ext uri="{BB962C8B-B14F-4D97-AF65-F5344CB8AC3E}">
        <p14:creationId xmlns:p14="http://schemas.microsoft.com/office/powerpoint/2010/main" val="32004881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964406"/>
          </a:xfrm>
        </p:spPr>
        <p:txBody>
          <a:bodyPr>
            <a:normAutofit fontScale="90000"/>
          </a:bodyPr>
          <a:lstStyle/>
          <a:p>
            <a:r>
              <a:rPr lang="fr-FR" dirty="0" smtClean="0"/>
              <a:t>V. Statistiques </a:t>
            </a:r>
            <a:r>
              <a:rPr lang="fr-FR" dirty="0" err="1" smtClean="0"/>
              <a:t>bivariées</a:t>
            </a:r>
            <a:r>
              <a:rPr lang="fr-FR" dirty="0" smtClean="0"/>
              <a:t> quantitatives</a:t>
            </a:r>
            <a:br>
              <a:rPr lang="fr-FR" dirty="0" smtClean="0"/>
            </a:br>
            <a:r>
              <a:rPr lang="fr-FR" dirty="0"/>
              <a:t>	</a:t>
            </a:r>
            <a:r>
              <a:rPr lang="fr-FR" dirty="0" err="1" smtClean="0"/>
              <a:t>V.a</a:t>
            </a:r>
            <a:r>
              <a:rPr lang="fr-FR" dirty="0" smtClean="0"/>
              <a:t>. Exploration</a:t>
            </a:r>
            <a:endParaRPr lang="fr-FR" sz="3600" b="1" dirty="0"/>
          </a:p>
        </p:txBody>
      </p:sp>
      <p:sp>
        <p:nvSpPr>
          <p:cNvPr id="3" name="Espace réservé du contenu 2"/>
          <p:cNvSpPr>
            <a:spLocks noGrp="1"/>
          </p:cNvSpPr>
          <p:nvPr>
            <p:ph idx="1"/>
          </p:nvPr>
        </p:nvSpPr>
        <p:spPr>
          <a:xfrm>
            <a:off x="301338" y="1278206"/>
            <a:ext cx="10791715" cy="1010713"/>
          </a:xfrm>
        </p:spPr>
        <p:txBody>
          <a:bodyPr>
            <a:normAutofit fontScale="92500" lnSpcReduction="20000"/>
          </a:bodyPr>
          <a:lstStyle/>
          <a:p>
            <a:r>
              <a:rPr lang="fr-FR" i="1" dirty="0" smtClean="0"/>
              <a:t>Activité 11.</a:t>
            </a:r>
            <a:r>
              <a:rPr lang="fr-FR" dirty="0" smtClean="0"/>
              <a:t> Calculer la matrice des corrélations, et tracer la matrice des nuages de points, d’abord avec les fonctions cor et pairs, puis avec </a:t>
            </a:r>
            <a:r>
              <a:rPr lang="fr-FR" dirty="0" err="1" smtClean="0"/>
              <a:t>ggpairs</a:t>
            </a:r>
            <a:r>
              <a:rPr lang="fr-FR" dirty="0" smtClean="0"/>
              <a:t> de la bibliothèque </a:t>
            </a:r>
            <a:r>
              <a:rPr lang="fr-FR" dirty="0" err="1" smtClean="0"/>
              <a:t>GGally</a:t>
            </a:r>
            <a:r>
              <a:rPr lang="fr-FR" dirty="0" smtClean="0"/>
              <a:t>. </a:t>
            </a:r>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7</a:t>
            </a:fld>
            <a:endParaRPr lang="fr-FR"/>
          </a:p>
        </p:txBody>
      </p:sp>
      <p:sp>
        <p:nvSpPr>
          <p:cNvPr id="7" name="Espace réservé du contenu 2"/>
          <p:cNvSpPr txBox="1">
            <a:spLocks/>
          </p:cNvSpPr>
          <p:nvPr/>
        </p:nvSpPr>
        <p:spPr>
          <a:xfrm>
            <a:off x="0" y="6013102"/>
            <a:ext cx="7525306" cy="8448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4. </a:t>
            </a:r>
            <a:r>
              <a:rPr lang="fr-FR" dirty="0" smtClean="0"/>
              <a:t>Quelles variables sont les plus liées ? Les moins liées ? Commenter.  </a:t>
            </a:r>
            <a:endParaRPr lang="fr-FR" dirty="0"/>
          </a:p>
        </p:txBody>
      </p:sp>
      <p:pic>
        <p:nvPicPr>
          <p:cNvPr id="4" name="Image 3"/>
          <p:cNvPicPr>
            <a:picLocks noChangeAspect="1"/>
          </p:cNvPicPr>
          <p:nvPr/>
        </p:nvPicPr>
        <p:blipFill>
          <a:blip r:embed="rId2"/>
          <a:stretch>
            <a:fillRect/>
          </a:stretch>
        </p:blipFill>
        <p:spPr>
          <a:xfrm>
            <a:off x="550101" y="2185676"/>
            <a:ext cx="5601482" cy="1286054"/>
          </a:xfrm>
          <a:prstGeom prst="rect">
            <a:avLst/>
          </a:prstGeom>
        </p:spPr>
      </p:pic>
      <p:pic>
        <p:nvPicPr>
          <p:cNvPr id="8" name="Image 7"/>
          <p:cNvPicPr>
            <a:picLocks noChangeAspect="1"/>
          </p:cNvPicPr>
          <p:nvPr/>
        </p:nvPicPr>
        <p:blipFill>
          <a:blip r:embed="rId3"/>
          <a:stretch>
            <a:fillRect/>
          </a:stretch>
        </p:blipFill>
        <p:spPr>
          <a:xfrm>
            <a:off x="7501180" y="2074374"/>
            <a:ext cx="4528707" cy="4281976"/>
          </a:xfrm>
          <a:prstGeom prst="rect">
            <a:avLst/>
          </a:prstGeom>
        </p:spPr>
      </p:pic>
      <p:sp>
        <p:nvSpPr>
          <p:cNvPr id="9" name="Espace réservé du contenu 2"/>
          <p:cNvSpPr txBox="1">
            <a:spLocks/>
          </p:cNvSpPr>
          <p:nvPr/>
        </p:nvSpPr>
        <p:spPr>
          <a:xfrm>
            <a:off x="208466" y="3471730"/>
            <a:ext cx="6700251" cy="10107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smtClean="0"/>
              <a:t>On testera la fonction </a:t>
            </a:r>
            <a:r>
              <a:rPr lang="fr-FR" dirty="0" err="1" smtClean="0"/>
              <a:t>cor.test</a:t>
            </a:r>
            <a:r>
              <a:rPr lang="fr-FR" dirty="0" smtClean="0"/>
              <a:t> pour faire le lien avec les nombres d’étoiles devant les corrélations du graphique. </a:t>
            </a:r>
          </a:p>
        </p:txBody>
      </p:sp>
      <p:pic>
        <p:nvPicPr>
          <p:cNvPr id="10" name="Image 9"/>
          <p:cNvPicPr>
            <a:picLocks noChangeAspect="1"/>
          </p:cNvPicPr>
          <p:nvPr/>
        </p:nvPicPr>
        <p:blipFill>
          <a:blip r:embed="rId4"/>
          <a:stretch>
            <a:fillRect/>
          </a:stretch>
        </p:blipFill>
        <p:spPr>
          <a:xfrm>
            <a:off x="1237143" y="4339525"/>
            <a:ext cx="5079111" cy="1673577"/>
          </a:xfrm>
          <a:prstGeom prst="rect">
            <a:avLst/>
          </a:prstGeom>
        </p:spPr>
      </p:pic>
    </p:spTree>
    <p:extLst>
      <p:ext uri="{BB962C8B-B14F-4D97-AF65-F5344CB8AC3E}">
        <p14:creationId xmlns:p14="http://schemas.microsoft.com/office/powerpoint/2010/main" val="534719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964406"/>
          </a:xfrm>
        </p:spPr>
        <p:txBody>
          <a:bodyPr>
            <a:normAutofit fontScale="90000"/>
          </a:bodyPr>
          <a:lstStyle/>
          <a:p>
            <a:r>
              <a:rPr lang="fr-FR" dirty="0" smtClean="0"/>
              <a:t>V. Statistiques </a:t>
            </a:r>
            <a:r>
              <a:rPr lang="fr-FR" dirty="0" err="1" smtClean="0"/>
              <a:t>bivariées</a:t>
            </a:r>
            <a:r>
              <a:rPr lang="fr-FR" dirty="0" smtClean="0"/>
              <a:t> quantitatives</a:t>
            </a:r>
            <a:br>
              <a:rPr lang="fr-FR" dirty="0" smtClean="0"/>
            </a:br>
            <a:r>
              <a:rPr lang="fr-FR" dirty="0"/>
              <a:t>	</a:t>
            </a:r>
            <a:r>
              <a:rPr lang="fr-FR" dirty="0" err="1" smtClean="0"/>
              <a:t>V.b</a:t>
            </a:r>
            <a:r>
              <a:rPr lang="fr-FR" dirty="0" smtClean="0"/>
              <a:t>. Régression linéaire</a:t>
            </a:r>
            <a:endParaRPr lang="fr-FR" sz="3600" b="1" dirty="0"/>
          </a:p>
        </p:txBody>
      </p:sp>
      <p:sp>
        <p:nvSpPr>
          <p:cNvPr id="3" name="Espace réservé du contenu 2"/>
          <p:cNvSpPr>
            <a:spLocks noGrp="1"/>
          </p:cNvSpPr>
          <p:nvPr>
            <p:ph idx="1"/>
          </p:nvPr>
        </p:nvSpPr>
        <p:spPr>
          <a:xfrm>
            <a:off x="770021" y="1329531"/>
            <a:ext cx="10419755" cy="1708137"/>
          </a:xfrm>
        </p:spPr>
        <p:txBody>
          <a:bodyPr>
            <a:normAutofit/>
          </a:bodyPr>
          <a:lstStyle/>
          <a:p>
            <a:r>
              <a:rPr lang="fr-FR" i="1" dirty="0" smtClean="0"/>
              <a:t>Activité 12. </a:t>
            </a:r>
            <a:r>
              <a:rPr lang="fr-FR" dirty="0" smtClean="0"/>
              <a:t>Utiliser la fonction lm pour expliquer la variable </a:t>
            </a:r>
            <a:r>
              <a:rPr lang="fr-FR" dirty="0" err="1" smtClean="0"/>
              <a:t>activmoins</a:t>
            </a:r>
            <a:r>
              <a:rPr lang="fr-FR" dirty="0" smtClean="0"/>
              <a:t> avec la variable </a:t>
            </a:r>
            <a:r>
              <a:rPr lang="fr-FR" dirty="0" err="1" smtClean="0"/>
              <a:t>activplus</a:t>
            </a:r>
            <a:r>
              <a:rPr lang="fr-FR" dirty="0" smtClean="0"/>
              <a:t>. Tracer le nuage de points associé avec la droite de régression (fonction plot avec option </a:t>
            </a:r>
            <a:r>
              <a:rPr lang="fr-FR" dirty="0" err="1" smtClean="0"/>
              <a:t>abline</a:t>
            </a:r>
            <a:r>
              <a:rPr lang="fr-FR" dirty="0" smtClean="0"/>
              <a:t>). On pourra ajouter de l’information comme suit:</a:t>
            </a:r>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8</a:t>
            </a:fld>
            <a:endParaRPr lang="fr-FR"/>
          </a:p>
        </p:txBody>
      </p:sp>
      <p:sp>
        <p:nvSpPr>
          <p:cNvPr id="7" name="Espace réservé du contenu 2"/>
          <p:cNvSpPr txBox="1">
            <a:spLocks/>
          </p:cNvSpPr>
          <p:nvPr/>
        </p:nvSpPr>
        <p:spPr>
          <a:xfrm>
            <a:off x="301338" y="6013341"/>
            <a:ext cx="5506563" cy="7081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5. </a:t>
            </a:r>
            <a:r>
              <a:rPr lang="fr-FR" dirty="0" smtClean="0"/>
              <a:t>Commenter.  </a:t>
            </a:r>
            <a:endParaRPr lang="fr-FR" dirty="0"/>
          </a:p>
        </p:txBody>
      </p:sp>
      <p:pic>
        <p:nvPicPr>
          <p:cNvPr id="4" name="Image 3"/>
          <p:cNvPicPr>
            <a:picLocks noChangeAspect="1"/>
          </p:cNvPicPr>
          <p:nvPr/>
        </p:nvPicPr>
        <p:blipFill>
          <a:blip r:embed="rId2"/>
          <a:stretch>
            <a:fillRect/>
          </a:stretch>
        </p:blipFill>
        <p:spPr>
          <a:xfrm>
            <a:off x="6562695" y="2472732"/>
            <a:ext cx="5048955" cy="4248743"/>
          </a:xfrm>
          <a:prstGeom prst="rect">
            <a:avLst/>
          </a:prstGeom>
        </p:spPr>
      </p:pic>
      <p:pic>
        <p:nvPicPr>
          <p:cNvPr id="5" name="Image 4"/>
          <p:cNvPicPr>
            <a:picLocks noChangeAspect="1"/>
          </p:cNvPicPr>
          <p:nvPr/>
        </p:nvPicPr>
        <p:blipFill>
          <a:blip r:embed="rId3"/>
          <a:stretch>
            <a:fillRect/>
          </a:stretch>
        </p:blipFill>
        <p:spPr>
          <a:xfrm>
            <a:off x="454104" y="3037668"/>
            <a:ext cx="5353797" cy="2810267"/>
          </a:xfrm>
          <a:prstGeom prst="rect">
            <a:avLst/>
          </a:prstGeom>
        </p:spPr>
      </p:pic>
    </p:spTree>
    <p:extLst>
      <p:ext uri="{BB962C8B-B14F-4D97-AF65-F5344CB8AC3E}">
        <p14:creationId xmlns:p14="http://schemas.microsoft.com/office/powerpoint/2010/main" val="36938228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964406"/>
          </a:xfrm>
        </p:spPr>
        <p:txBody>
          <a:bodyPr>
            <a:normAutofit/>
          </a:bodyPr>
          <a:lstStyle/>
          <a:p>
            <a:r>
              <a:rPr lang="fr-FR" dirty="0" smtClean="0"/>
              <a:t>VI. Statistiques </a:t>
            </a:r>
            <a:r>
              <a:rPr lang="fr-FR" dirty="0" err="1" smtClean="0"/>
              <a:t>bivariées</a:t>
            </a:r>
            <a:r>
              <a:rPr lang="fr-FR" dirty="0" smtClean="0"/>
              <a:t> qualitatives</a:t>
            </a:r>
            <a:endParaRPr lang="fr-FR" sz="3600" b="1" dirty="0"/>
          </a:p>
        </p:txBody>
      </p:sp>
      <p:sp>
        <p:nvSpPr>
          <p:cNvPr id="3" name="Espace réservé du contenu 2"/>
          <p:cNvSpPr>
            <a:spLocks noGrp="1"/>
          </p:cNvSpPr>
          <p:nvPr>
            <p:ph idx="1"/>
          </p:nvPr>
        </p:nvSpPr>
        <p:spPr>
          <a:xfrm>
            <a:off x="770021" y="1007706"/>
            <a:ext cx="9846318" cy="1427381"/>
          </a:xfrm>
        </p:spPr>
        <p:txBody>
          <a:bodyPr>
            <a:normAutofit fontScale="92500" lnSpcReduction="20000"/>
          </a:bodyPr>
          <a:lstStyle/>
          <a:p>
            <a:r>
              <a:rPr lang="fr-FR" i="1" dirty="0" smtClean="0"/>
              <a:t>Activité 13.</a:t>
            </a:r>
            <a:r>
              <a:rPr lang="fr-FR" dirty="0" smtClean="0"/>
              <a:t> Recoder la variable </a:t>
            </a:r>
            <a:r>
              <a:rPr lang="fr-FR" dirty="0" err="1" smtClean="0"/>
              <a:t>nbcom</a:t>
            </a:r>
            <a:r>
              <a:rPr lang="fr-FR" dirty="0" smtClean="0"/>
              <a:t> en classes. </a:t>
            </a:r>
          </a:p>
          <a:p>
            <a:r>
              <a:rPr lang="fr-FR" i="1" dirty="0" smtClean="0"/>
              <a:t>Activité 14.</a:t>
            </a:r>
            <a:r>
              <a:rPr lang="fr-FR" dirty="0" smtClean="0"/>
              <a:t> Dresser le tableau de contingence croisant </a:t>
            </a:r>
            <a:r>
              <a:rPr lang="fr-FR" dirty="0" err="1" smtClean="0"/>
              <a:t>libgeo</a:t>
            </a:r>
            <a:r>
              <a:rPr lang="fr-FR" dirty="0" smtClean="0"/>
              <a:t> avec </a:t>
            </a:r>
            <a:r>
              <a:rPr lang="fr-FR" dirty="0" err="1" smtClean="0"/>
              <a:t>nbcom</a:t>
            </a:r>
            <a:r>
              <a:rPr lang="fr-FR" dirty="0" smtClean="0"/>
              <a:t> en classes. Calculer les tableaux des profils-lignes et colonnes de ce tableau de contingence. Aperçus :</a:t>
            </a:r>
          </a:p>
          <a:p>
            <a:endParaRPr lang="fr-FR" dirty="0"/>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9</a:t>
            </a:fld>
            <a:endParaRPr lang="fr-FR"/>
          </a:p>
        </p:txBody>
      </p:sp>
      <p:sp>
        <p:nvSpPr>
          <p:cNvPr id="7" name="Espace réservé du contenu 2"/>
          <p:cNvSpPr txBox="1">
            <a:spLocks/>
          </p:cNvSpPr>
          <p:nvPr/>
        </p:nvSpPr>
        <p:spPr>
          <a:xfrm>
            <a:off x="301338" y="6116463"/>
            <a:ext cx="9680862" cy="4224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6. </a:t>
            </a:r>
            <a:r>
              <a:rPr lang="fr-FR" dirty="0" smtClean="0"/>
              <a:t>Décrire le lien éventuel entre ces deux variables.  </a:t>
            </a:r>
            <a:endParaRPr lang="fr-FR" dirty="0"/>
          </a:p>
        </p:txBody>
      </p:sp>
      <p:pic>
        <p:nvPicPr>
          <p:cNvPr id="4" name="Image 3"/>
          <p:cNvPicPr>
            <a:picLocks noChangeAspect="1"/>
          </p:cNvPicPr>
          <p:nvPr/>
        </p:nvPicPr>
        <p:blipFill>
          <a:blip r:embed="rId2"/>
          <a:stretch>
            <a:fillRect/>
          </a:stretch>
        </p:blipFill>
        <p:spPr>
          <a:xfrm>
            <a:off x="186962" y="2368117"/>
            <a:ext cx="5506218" cy="990738"/>
          </a:xfrm>
          <a:prstGeom prst="rect">
            <a:avLst/>
          </a:prstGeom>
        </p:spPr>
      </p:pic>
      <p:sp>
        <p:nvSpPr>
          <p:cNvPr id="8" name="Espace réservé du contenu 2"/>
          <p:cNvSpPr txBox="1">
            <a:spLocks/>
          </p:cNvSpPr>
          <p:nvPr/>
        </p:nvSpPr>
        <p:spPr>
          <a:xfrm>
            <a:off x="550101" y="3469210"/>
            <a:ext cx="9846318" cy="69224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i="1" dirty="0" smtClean="0"/>
              <a:t>Activité 15.</a:t>
            </a:r>
            <a:r>
              <a:rPr lang="fr-FR" dirty="0" smtClean="0"/>
              <a:t> Tracer le diagramme en barres superposées croisant les deux variables, d’abord en effectifs, puis à 100%. </a:t>
            </a:r>
          </a:p>
          <a:p>
            <a:pPr marL="0" indent="0">
              <a:buFont typeface="Arial" panose="020B0604020202020204" pitchFamily="34" charset="0"/>
              <a:buNone/>
            </a:pPr>
            <a:endParaRPr lang="fr-FR" dirty="0" smtClean="0"/>
          </a:p>
        </p:txBody>
      </p:sp>
      <p:pic>
        <p:nvPicPr>
          <p:cNvPr id="5" name="Image 4"/>
          <p:cNvPicPr>
            <a:picLocks noChangeAspect="1"/>
          </p:cNvPicPr>
          <p:nvPr/>
        </p:nvPicPr>
        <p:blipFill>
          <a:blip r:embed="rId3"/>
          <a:stretch>
            <a:fillRect/>
          </a:stretch>
        </p:blipFill>
        <p:spPr>
          <a:xfrm>
            <a:off x="2463800" y="4183147"/>
            <a:ext cx="1846848" cy="1958409"/>
          </a:xfrm>
          <a:prstGeom prst="rect">
            <a:avLst/>
          </a:prstGeom>
        </p:spPr>
      </p:pic>
      <p:pic>
        <p:nvPicPr>
          <p:cNvPr id="9" name="Image 8"/>
          <p:cNvPicPr>
            <a:picLocks noChangeAspect="1"/>
          </p:cNvPicPr>
          <p:nvPr/>
        </p:nvPicPr>
        <p:blipFill>
          <a:blip r:embed="rId4"/>
          <a:stretch>
            <a:fillRect/>
          </a:stretch>
        </p:blipFill>
        <p:spPr>
          <a:xfrm>
            <a:off x="7780795" y="4029039"/>
            <a:ext cx="1659609" cy="1979952"/>
          </a:xfrm>
          <a:prstGeom prst="rect">
            <a:avLst/>
          </a:prstGeom>
        </p:spPr>
      </p:pic>
      <p:pic>
        <p:nvPicPr>
          <p:cNvPr id="10" name="Image 9"/>
          <p:cNvPicPr>
            <a:picLocks noChangeAspect="1"/>
          </p:cNvPicPr>
          <p:nvPr/>
        </p:nvPicPr>
        <p:blipFill>
          <a:blip r:embed="rId5"/>
          <a:stretch>
            <a:fillRect/>
          </a:stretch>
        </p:blipFill>
        <p:spPr>
          <a:xfrm>
            <a:off x="5807901" y="2389232"/>
            <a:ext cx="6090710" cy="825148"/>
          </a:xfrm>
          <a:prstGeom prst="rect">
            <a:avLst/>
          </a:prstGeom>
        </p:spPr>
      </p:pic>
    </p:spTree>
    <p:extLst>
      <p:ext uri="{BB962C8B-B14F-4D97-AF65-F5344CB8AC3E}">
        <p14:creationId xmlns:p14="http://schemas.microsoft.com/office/powerpoint/2010/main" val="1740055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50101" y="238126"/>
            <a:ext cx="10515600" cy="964406"/>
          </a:xfrm>
        </p:spPr>
        <p:txBody>
          <a:bodyPr>
            <a:normAutofit/>
          </a:bodyPr>
          <a:lstStyle/>
          <a:p>
            <a:r>
              <a:rPr lang="fr-FR" dirty="0" smtClean="0"/>
              <a:t>VII. Statistiques </a:t>
            </a:r>
            <a:r>
              <a:rPr lang="fr-FR" dirty="0" err="1" smtClean="0"/>
              <a:t>bivariées</a:t>
            </a:r>
            <a:r>
              <a:rPr lang="fr-FR" dirty="0" smtClean="0"/>
              <a:t> mixtes</a:t>
            </a:r>
            <a:endParaRPr lang="fr-FR" sz="3600" b="1" dirty="0"/>
          </a:p>
        </p:txBody>
      </p:sp>
      <p:sp>
        <p:nvSpPr>
          <p:cNvPr id="3" name="Espace réservé du contenu 2"/>
          <p:cNvSpPr>
            <a:spLocks noGrp="1"/>
          </p:cNvSpPr>
          <p:nvPr>
            <p:ph idx="1"/>
          </p:nvPr>
        </p:nvSpPr>
        <p:spPr>
          <a:xfrm>
            <a:off x="266712" y="1062635"/>
            <a:ext cx="8002652" cy="4570464"/>
          </a:xfrm>
        </p:spPr>
        <p:txBody>
          <a:bodyPr>
            <a:normAutofit lnSpcReduction="10000"/>
          </a:bodyPr>
          <a:lstStyle/>
          <a:p>
            <a:r>
              <a:rPr lang="fr-FR" i="1" dirty="0" smtClean="0"/>
              <a:t>Activité 16. </a:t>
            </a:r>
            <a:r>
              <a:rPr lang="fr-FR" dirty="0" smtClean="0"/>
              <a:t>Calculer les moyennes et les variances de la variable surf selon les niveaux de la variable </a:t>
            </a:r>
            <a:r>
              <a:rPr lang="fr-FR" dirty="0" err="1" smtClean="0"/>
              <a:t>libgeo</a:t>
            </a:r>
            <a:r>
              <a:rPr lang="fr-FR" dirty="0" smtClean="0"/>
              <a:t>. Il faut d’abord créer la fonction </a:t>
            </a:r>
            <a:r>
              <a:rPr lang="fr-FR" dirty="0" err="1" smtClean="0"/>
              <a:t>varp</a:t>
            </a:r>
            <a:r>
              <a:rPr lang="fr-FR" dirty="0" smtClean="0"/>
              <a:t> qui calcule la variance de population. </a:t>
            </a:r>
          </a:p>
          <a:p>
            <a:endParaRPr lang="fr-FR" dirty="0" smtClean="0"/>
          </a:p>
          <a:p>
            <a:endParaRPr lang="fr-FR" dirty="0"/>
          </a:p>
          <a:p>
            <a:endParaRPr lang="fr-FR" dirty="0" smtClean="0"/>
          </a:p>
          <a:p>
            <a:r>
              <a:rPr lang="fr-FR" i="1" dirty="0" smtClean="0"/>
              <a:t>Activité 17. </a:t>
            </a:r>
            <a:r>
              <a:rPr lang="fr-FR" dirty="0" smtClean="0"/>
              <a:t>Calculer le rapport de corrélation entre ces deux variables. Résultat : </a:t>
            </a:r>
          </a:p>
          <a:p>
            <a:r>
              <a:rPr lang="fr-FR" i="1" dirty="0" smtClean="0"/>
              <a:t>Activité 18</a:t>
            </a:r>
            <a:r>
              <a:rPr lang="fr-FR" dirty="0" smtClean="0"/>
              <a:t>. Tracer les boîtes et moustaches parallèles croisant ces deux variables. </a:t>
            </a:r>
          </a:p>
        </p:txBody>
      </p:sp>
      <p:sp>
        <p:nvSpPr>
          <p:cNvPr id="6" name="Espace réservé du numéro de diapositive 5"/>
          <p:cNvSpPr>
            <a:spLocks noGrp="1"/>
          </p:cNvSpPr>
          <p:nvPr>
            <p:ph type="sldNum" sz="quarter" idx="12"/>
          </p:nvPr>
        </p:nvSpPr>
        <p:spPr/>
        <p:txBody>
          <a:bodyPr/>
          <a:lstStyle/>
          <a:p>
            <a:fld id="{A478A533-A207-4B9F-8782-D9FA04E3EE64}" type="slidenum">
              <a:rPr lang="fr-FR" smtClean="0"/>
              <a:t>10</a:t>
            </a:fld>
            <a:endParaRPr lang="fr-FR"/>
          </a:p>
        </p:txBody>
      </p:sp>
      <p:sp>
        <p:nvSpPr>
          <p:cNvPr id="7" name="Espace réservé du contenu 2"/>
          <p:cNvSpPr txBox="1">
            <a:spLocks/>
          </p:cNvSpPr>
          <p:nvPr/>
        </p:nvSpPr>
        <p:spPr>
          <a:xfrm>
            <a:off x="301338" y="5933901"/>
            <a:ext cx="9680862" cy="4224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fr-FR" i="1" dirty="0" smtClean="0"/>
              <a:t>Exercice 7. </a:t>
            </a:r>
            <a:r>
              <a:rPr lang="fr-FR" dirty="0" smtClean="0"/>
              <a:t>Décrire l’</a:t>
            </a:r>
            <a:r>
              <a:rPr lang="fr-FR" dirty="0"/>
              <a:t>é</a:t>
            </a:r>
            <a:r>
              <a:rPr lang="fr-FR" dirty="0" smtClean="0"/>
              <a:t>ventuel  lien entre ces deux variables. </a:t>
            </a:r>
            <a:endParaRPr lang="fr-FR" dirty="0"/>
          </a:p>
        </p:txBody>
      </p:sp>
      <p:pic>
        <p:nvPicPr>
          <p:cNvPr id="4" name="Image 3"/>
          <p:cNvPicPr>
            <a:picLocks noChangeAspect="1"/>
          </p:cNvPicPr>
          <p:nvPr/>
        </p:nvPicPr>
        <p:blipFill>
          <a:blip r:embed="rId2"/>
          <a:stretch>
            <a:fillRect/>
          </a:stretch>
        </p:blipFill>
        <p:spPr>
          <a:xfrm>
            <a:off x="8192421" y="3562901"/>
            <a:ext cx="3833264" cy="2793449"/>
          </a:xfrm>
          <a:prstGeom prst="rect">
            <a:avLst/>
          </a:prstGeom>
        </p:spPr>
      </p:pic>
      <p:pic>
        <p:nvPicPr>
          <p:cNvPr id="9" name="Image 8"/>
          <p:cNvPicPr>
            <a:picLocks noChangeAspect="1"/>
          </p:cNvPicPr>
          <p:nvPr/>
        </p:nvPicPr>
        <p:blipFill>
          <a:blip r:embed="rId3"/>
          <a:stretch>
            <a:fillRect/>
          </a:stretch>
        </p:blipFill>
        <p:spPr>
          <a:xfrm>
            <a:off x="5245847" y="4311986"/>
            <a:ext cx="1124107" cy="352474"/>
          </a:xfrm>
          <a:prstGeom prst="rect">
            <a:avLst/>
          </a:prstGeom>
        </p:spPr>
      </p:pic>
      <p:pic>
        <p:nvPicPr>
          <p:cNvPr id="5" name="Image 4"/>
          <p:cNvPicPr>
            <a:picLocks noChangeAspect="1"/>
          </p:cNvPicPr>
          <p:nvPr/>
        </p:nvPicPr>
        <p:blipFill>
          <a:blip r:embed="rId4"/>
          <a:stretch>
            <a:fillRect/>
          </a:stretch>
        </p:blipFill>
        <p:spPr>
          <a:xfrm>
            <a:off x="2156781" y="2464406"/>
            <a:ext cx="5334744" cy="1324160"/>
          </a:xfrm>
          <a:prstGeom prst="rect">
            <a:avLst/>
          </a:prstGeom>
        </p:spPr>
      </p:pic>
    </p:spTree>
    <p:extLst>
      <p:ext uri="{BB962C8B-B14F-4D97-AF65-F5344CB8AC3E}">
        <p14:creationId xmlns:p14="http://schemas.microsoft.com/office/powerpoint/2010/main" val="1832799805"/>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5904</TotalTime>
  <Words>873</Words>
  <Application>Microsoft Office PowerPoint</Application>
  <PresentationFormat>Grand écran</PresentationFormat>
  <Paragraphs>63</Paragraphs>
  <Slides>10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Calibri</vt:lpstr>
      <vt:lpstr>Calibri Light</vt:lpstr>
      <vt:lpstr>Thème Office</vt:lpstr>
      <vt:lpstr>L1 Math – Info  TP1 – Statistique </vt:lpstr>
      <vt:lpstr>I. Création d’un fichier R Markdown </vt:lpstr>
      <vt:lpstr>Fonctionnement d’un fichier R Markdown</vt:lpstr>
      <vt:lpstr>II. Importation et examen des données </vt:lpstr>
      <vt:lpstr>III. Statistiques simples quantitatives</vt:lpstr>
      <vt:lpstr>IV. Statistiques simples qualitatives</vt:lpstr>
      <vt:lpstr>V. Statistiques bivariées quantitatives  V.a. Exploration</vt:lpstr>
      <vt:lpstr>V. Statistiques bivariées quantitatives  V.b. Régression linéaire</vt:lpstr>
      <vt:lpstr>VI. Statistiques bivariées qualitatives</vt:lpstr>
      <vt:lpstr>VII. Statistiques bivariées mixtes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M1 IFSE Economie de l'emploi et des ressources humaines  –   Statistique</dc:title>
  <dc:creator>sylvie</dc:creator>
  <cp:lastModifiedBy>sylvie</cp:lastModifiedBy>
  <cp:revision>91</cp:revision>
  <cp:lastPrinted>2022-03-15T13:38:25Z</cp:lastPrinted>
  <dcterms:created xsi:type="dcterms:W3CDTF">2020-11-16T21:19:36Z</dcterms:created>
  <dcterms:modified xsi:type="dcterms:W3CDTF">2024-01-14T19:55:50Z</dcterms:modified>
</cp:coreProperties>
</file>